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76b0f3ecce475c" /><Relationship Type="http://schemas.openxmlformats.org/officeDocument/2006/relationships/extended-properties" Target="/docProps/app.xml" Id="Rfdd00723c46948fc" /><Relationship Type="http://schemas.openxmlformats.org/officeDocument/2006/relationships/officeDocument" Target="/ppt/presentation.xml" Id="R8b0dd0b45e33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c8c9dcb57f459e"/>
  </p:sldMasterIdLst>
  <p:notesMasterIdLst>
    <p:notesMasterId xmlns:r="http://schemas.openxmlformats.org/officeDocument/2006/relationships" r:id="R7f9845f2b4b94fe7"/>
  </p:notesMasterIdLst>
  <p:sldIdLst>
    <p:sldId xmlns:r="http://schemas.openxmlformats.org/officeDocument/2006/relationships" id="256" r:id="R29d9055c283d429e"/>
    <p:sldId xmlns:r="http://schemas.openxmlformats.org/officeDocument/2006/relationships" id="257" r:id="Rb9725e1d8b624034"/>
    <p:sldId xmlns:r="http://schemas.openxmlformats.org/officeDocument/2006/relationships" id="258" r:id="Rc162feee4d4a4d7a"/>
    <p:sldId xmlns:r="http://schemas.openxmlformats.org/officeDocument/2006/relationships" id="259" r:id="R2adf37261955436e"/>
    <p:sldId xmlns:r="http://schemas.openxmlformats.org/officeDocument/2006/relationships" id="260" r:id="R71609a90b3c94fca"/>
    <p:sldId xmlns:r="http://schemas.openxmlformats.org/officeDocument/2006/relationships" id="261" r:id="Rd5579502b0554a5f"/>
    <p:sldId xmlns:r="http://schemas.openxmlformats.org/officeDocument/2006/relationships" id="262" r:id="R598d38c578fa4b42"/>
    <p:sldId xmlns:r="http://schemas.openxmlformats.org/officeDocument/2006/relationships" id="263" r:id="Rbb6a13ec494e41dd"/>
    <p:sldId xmlns:r="http://schemas.openxmlformats.org/officeDocument/2006/relationships" id="264" r:id="R0ec1508cb0ef44cc"/>
    <p:sldId xmlns:r="http://schemas.openxmlformats.org/officeDocument/2006/relationships" id="265" r:id="R1f820256064041ce"/>
    <p:sldId xmlns:r="http://schemas.openxmlformats.org/officeDocument/2006/relationships" id="266" r:id="Rf56cfc3ff87349e7"/>
    <p:sldId xmlns:r="http://schemas.openxmlformats.org/officeDocument/2006/relationships" id="267" r:id="R0febcd6eb32a42d6"/>
    <p:sldId xmlns:r="http://schemas.openxmlformats.org/officeDocument/2006/relationships" id="268" r:id="R1e7d0eade80c4058"/>
    <p:sldId xmlns:r="http://schemas.openxmlformats.org/officeDocument/2006/relationships" id="269" r:id="R77d6d14a9c36418a"/>
    <p:sldId xmlns:r="http://schemas.openxmlformats.org/officeDocument/2006/relationships" id="270" r:id="R8dde3396d4d14514"/>
    <p:sldId xmlns:r="http://schemas.openxmlformats.org/officeDocument/2006/relationships" id="271" r:id="Ra0580f54a27c46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e858acf204624" /><Relationship Type="http://schemas.openxmlformats.org/officeDocument/2006/relationships/slideMaster" Target="/ppt/slideMasters/slideMaster1.xml" Id="R25c8c9dcb57f459e" /><Relationship Type="http://schemas.openxmlformats.org/officeDocument/2006/relationships/notesMaster" Target="/ppt/notesMasters/notesMaster1.xml" Id="R7f9845f2b4b94fe7" /><Relationship Type="http://schemas.openxmlformats.org/officeDocument/2006/relationships/presProps" Target="/ppt/presProps.xml" Id="R6a57b624e87c429f" /><Relationship Type="http://schemas.openxmlformats.org/officeDocument/2006/relationships/tableStyles" Target="/ppt/tableStyles.xml" Id="Re42228c2532f421a" /><Relationship Type="http://schemas.openxmlformats.org/officeDocument/2006/relationships/slide" Target="/ppt/slides/slide1.xml" Id="R29d9055c283d429e" /><Relationship Type="http://schemas.openxmlformats.org/officeDocument/2006/relationships/slide" Target="/ppt/slides/slide2.xml" Id="Rb9725e1d8b624034" /><Relationship Type="http://schemas.openxmlformats.org/officeDocument/2006/relationships/slide" Target="/ppt/slides/slide3.xml" Id="Rc162feee4d4a4d7a" /><Relationship Type="http://schemas.openxmlformats.org/officeDocument/2006/relationships/slide" Target="/ppt/slides/slide4.xml" Id="R2adf37261955436e" /><Relationship Type="http://schemas.openxmlformats.org/officeDocument/2006/relationships/slide" Target="/ppt/slides/slide5.xml" Id="R71609a90b3c94fca" /><Relationship Type="http://schemas.openxmlformats.org/officeDocument/2006/relationships/slide" Target="/ppt/slides/slide6.xml" Id="Rd5579502b0554a5f" /><Relationship Type="http://schemas.openxmlformats.org/officeDocument/2006/relationships/slide" Target="/ppt/slides/slide7.xml" Id="R598d38c578fa4b42" /><Relationship Type="http://schemas.openxmlformats.org/officeDocument/2006/relationships/slide" Target="/ppt/slides/slide8.xml" Id="Rbb6a13ec494e41dd" /><Relationship Type="http://schemas.openxmlformats.org/officeDocument/2006/relationships/slide" Target="/ppt/slides/slide9.xml" Id="R0ec1508cb0ef44cc" /><Relationship Type="http://schemas.openxmlformats.org/officeDocument/2006/relationships/slide" Target="/ppt/slides/slide10.xml" Id="R1f820256064041ce" /><Relationship Type="http://schemas.openxmlformats.org/officeDocument/2006/relationships/slide" Target="/ppt/slides/slide11.xml" Id="Rf56cfc3ff87349e7" /><Relationship Type="http://schemas.openxmlformats.org/officeDocument/2006/relationships/slide" Target="/ppt/slides/slide12.xml" Id="R0febcd6eb32a42d6" /><Relationship Type="http://schemas.openxmlformats.org/officeDocument/2006/relationships/slide" Target="/ppt/slides/slide13.xml" Id="R1e7d0eade80c4058" /><Relationship Type="http://schemas.openxmlformats.org/officeDocument/2006/relationships/slide" Target="/ppt/slides/slide14.xml" Id="R77d6d14a9c36418a" /><Relationship Type="http://schemas.openxmlformats.org/officeDocument/2006/relationships/slide" Target="/ppt/slides/slide15.xml" Id="R8dde3396d4d14514" /><Relationship Type="http://schemas.openxmlformats.org/officeDocument/2006/relationships/slide" Target="/ppt/slides/slide16.xml" Id="Ra0580f54a27c46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1d123f95d440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693a828d2043b1" /><Relationship Type="http://schemas.openxmlformats.org/officeDocument/2006/relationships/notesMaster" Target="/ppt/notesMasters/notesMaster1.xml" Id="R59edbb137b4e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ada32f05f4a21" /><Relationship Type="http://schemas.openxmlformats.org/officeDocument/2006/relationships/notesMaster" Target="/ppt/notesMasters/notesMaster1.xml" Id="Rb25091794a07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1127107956499d" /><Relationship Type="http://schemas.openxmlformats.org/officeDocument/2006/relationships/notesMaster" Target="/ppt/notesMasters/notesMaster1.xml" Id="R6c54ed6c10d740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5e41c794cc461c" /><Relationship Type="http://schemas.openxmlformats.org/officeDocument/2006/relationships/notesMaster" Target="/ppt/notesMasters/notesMaster1.xml" Id="R99b4cb2c5dfe48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6db50a33ba4907" /><Relationship Type="http://schemas.openxmlformats.org/officeDocument/2006/relationships/notesMaster" Target="/ppt/notesMasters/notesMaster1.xml" Id="R879bff246184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8242ac2e64ad4" /><Relationship Type="http://schemas.openxmlformats.org/officeDocument/2006/relationships/notesMaster" Target="/ppt/notesMasters/notesMaster1.xml" Id="Rcc57dc6805764a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52c5d39276485c" /><Relationship Type="http://schemas.openxmlformats.org/officeDocument/2006/relationships/notesMaster" Target="/ppt/notesMasters/notesMaster1.xml" Id="Rc00af268daa341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d09d949d504fc8" /><Relationship Type="http://schemas.openxmlformats.org/officeDocument/2006/relationships/notesMaster" Target="/ppt/notesMasters/notesMaster1.xml" Id="R59d72c2fea0b47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cc1185cade40ea" /><Relationship Type="http://schemas.openxmlformats.org/officeDocument/2006/relationships/notesMaster" Target="/ppt/notesMasters/notesMaster1.xml" Id="R5b50284114cf48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7517d20652457b" /><Relationship Type="http://schemas.openxmlformats.org/officeDocument/2006/relationships/notesMaster" Target="/ppt/notesMasters/notesMaster1.xml" Id="Ref5c7e9150f449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ed536434824a1e" /><Relationship Type="http://schemas.openxmlformats.org/officeDocument/2006/relationships/notesMaster" Target="/ppt/notesMasters/notesMaster1.xml" Id="Rf83e653c043347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cdb7007275404d" /><Relationship Type="http://schemas.openxmlformats.org/officeDocument/2006/relationships/notesMaster" Target="/ppt/notesMasters/notesMaster1.xml" Id="R8885fa5e4d0c47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499c868e4e4f6d" /><Relationship Type="http://schemas.openxmlformats.org/officeDocument/2006/relationships/notesMaster" Target="/ppt/notesMasters/notesMaster1.xml" Id="R197c9757829d46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3e481894c14065" /><Relationship Type="http://schemas.openxmlformats.org/officeDocument/2006/relationships/notesMaster" Target="/ppt/notesMasters/notesMaster1.xml" Id="R931bfbc98d3b49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f7df91f7604c23" /><Relationship Type="http://schemas.openxmlformats.org/officeDocument/2006/relationships/notesMaster" Target="/ppt/notesMasters/notesMaster1.xml" Id="Rb367544569b546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9c3d695c1d499b" /><Relationship Type="http://schemas.openxmlformats.org/officeDocument/2006/relationships/notesMaster" Target="/ppt/notesMasters/notesMaster1.xml" Id="R6492fed48caa4f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ae3238c0d49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7cc1ad57b14825" /><Relationship Type="http://schemas.openxmlformats.org/officeDocument/2006/relationships/slideLayout" Target="/ppt/slideLayouts/slideLayout1.xml" Id="Rc8bc93d5750747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c93d5750747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7a35ed5724c7b" /><Relationship Type="http://schemas.openxmlformats.org/officeDocument/2006/relationships/notesSlide" Target="/ppt/notesSlides/notesSlide1.xml" Id="Rc3af49c9c971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700a9e808404b" /><Relationship Type="http://schemas.openxmlformats.org/officeDocument/2006/relationships/notesSlide" Target="/ppt/notesSlides/notesSlide2.xml" Id="Rb8ae03a32b144e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974db1b244cd" /><Relationship Type="http://schemas.openxmlformats.org/officeDocument/2006/relationships/notesSlide" Target="/ppt/notesSlides/notesSlide3.xml" Id="Rb9ed6d7506994f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c1856e6cb423e" /><Relationship Type="http://schemas.openxmlformats.org/officeDocument/2006/relationships/notesSlide" Target="/ppt/notesSlides/notesSlide4.xml" Id="R12f718a5a41f4a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6a372ba5c453e" /><Relationship Type="http://schemas.openxmlformats.org/officeDocument/2006/relationships/notesSlide" Target="/ppt/notesSlides/notesSlide5.xml" Id="Rab0e39815302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111b4e8f24e74" /><Relationship Type="http://schemas.openxmlformats.org/officeDocument/2006/relationships/notesSlide" Target="/ppt/notesSlides/notesSlide6.xml" Id="R13ef5e2c1d8343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956ecafdf4b32" /><Relationship Type="http://schemas.openxmlformats.org/officeDocument/2006/relationships/notesSlide" Target="/ppt/notesSlides/notesSlide7.xml" Id="R93fe302a638e45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fd722ac044a1c" /><Relationship Type="http://schemas.openxmlformats.org/officeDocument/2006/relationships/notesSlide" Target="/ppt/notesSlides/notesSlide8.xml" Id="Ra1fe9cbf5fa44f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04f8e24714323" /><Relationship Type="http://schemas.openxmlformats.org/officeDocument/2006/relationships/notesSlide" Target="/ppt/notesSlides/notesSlide9.xml" Id="Rdf331596862343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37c3bc15142da" /><Relationship Type="http://schemas.openxmlformats.org/officeDocument/2006/relationships/notesSlide" Target="/ppt/notesSlides/notesSlide10.xml" Id="Rd762ae8156b24e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065d1c2ea4e01" /><Relationship Type="http://schemas.openxmlformats.org/officeDocument/2006/relationships/notesSlide" Target="/ppt/notesSlides/notesSlide11.xml" Id="Reb3c489f33cf42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58cf14d9a4230" /><Relationship Type="http://schemas.openxmlformats.org/officeDocument/2006/relationships/notesSlide" Target="/ppt/notesSlides/notesSlide12.xml" Id="R63329638224c46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28a6d03534b74" /><Relationship Type="http://schemas.openxmlformats.org/officeDocument/2006/relationships/notesSlide" Target="/ppt/notesSlides/notesSlide13.xml" Id="R922234c69cf94e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269ead1f0428a" /><Relationship Type="http://schemas.openxmlformats.org/officeDocument/2006/relationships/notesSlide" Target="/ppt/notesSlides/notesSlide14.xml" Id="R05bdc54b065b4b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96f14de4d415b" /><Relationship Type="http://schemas.openxmlformats.org/officeDocument/2006/relationships/notesSlide" Target="/ppt/notesSlides/notesSlide15.xml" Id="R9e664ce628a24f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d1137f5374106" /><Relationship Type="http://schemas.openxmlformats.org/officeDocument/2006/relationships/notesSlide" Target="/ppt/notesSlides/notesSlide16.xml" Id="R2187a84b54a147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73B20A-28A5-4578-A865-21C773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64E4D-4077-465B-8E41-FBF30EAD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80A25-F3F0-4F0F-A77E-772C07F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SO-101 CLASSROOM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DC112-A9BE-4DDE-8510-84896A0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0015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SO-101 로봇팔은</a:t>
            </a:r>
          </a:p>
          <a:p xmlns:a="http://schemas.openxmlformats.org/drawingml/2006/main">
            <a:pPr algn="l">
              <a:defRPr sz="37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어떻게 움직일까?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86A39-0A8B-40C5-9F7F-DA665264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환경 설치부터 모터 통신, 캘리브레이션,</a:t>
            </a:r>
          </a:p>
          <a:p xmlns:a="http://schemas.openxmlformats.org/drawingml/2006/main">
            <a:pPr algn="l">
              <a:defRPr sz="15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Teleoperation까지 이해하는 기술 수업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766D-031F-457C-A7ED-7844373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2"/>
          </a:solidFill>
          <a:ln xmlns:a="http://schemas.openxmlformats.org/drawingml/2006/main" w="0">
            <a:solidFill>
              <a:srgbClr val="1325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19E25-A0B3-4A5D-AFB5-4F911465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71700"/>
            <a:ext cx="171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6F2C4-03E0-470D-AE9E-E6B84784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132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4001E-8BDA-4637-8645-39A69B3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543050"/>
            <a:ext cx="1714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4E5D-8734-4302-8900-81E1F93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457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1325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73755-7F5B-4F80-BE75-11696C3F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4192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2"/>
          </a:solidFill>
          <a:ln xmlns:a="http://schemas.openxmlformats.org/drawingml/2006/main" w="0">
            <a:solidFill>
              <a:srgbClr val="1325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E165B-AC40-42DE-8582-C24D9EA0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LEADER ARM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3060B-CCA5-404D-8165-077137D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EB775-F47C-4E42-AA9D-F2589543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62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2"/>
          </a:solidFill>
          <a:ln xmlns:a="http://schemas.openxmlformats.org/drawingml/2006/main" w="0">
            <a:solidFill>
              <a:srgbClr val="132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8632A-C865-4C72-B808-32DC359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71700"/>
            <a:ext cx="171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601B4-B363-4CF2-9281-7E7E275C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1325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041F1-05D5-4CD0-A29C-AF701C9A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543050"/>
            <a:ext cx="1714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ED2C4-CFD1-4A36-9AD4-DF973D5A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457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1325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49E54-4735-4946-B44F-2791810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192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2"/>
          </a:solidFill>
          <a:ln xmlns:a="http://schemas.openxmlformats.org/drawingml/2006/main" w="0">
            <a:solidFill>
              <a:srgbClr val="13252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73483-2824-4090-82A7-E13B7621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24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FOLLOWER ARM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E1AAA-A193-45E3-A2FE-4A2E71BC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BEC49-8361-4B7A-BA62-0B183CC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오늘의 핵심 질문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23C78-2850-40F7-B718-EC75AEEF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컴퓨터는 어떻게 12개의 모터를 구분하고 같은 움직임을 전달할까?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3666D-D4FE-45E9-97C1-1BAE95A2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Windows · Hugging Face LeRobot · Feetech STS3215</a:t>
            </a:r>
          </a:p>
        </p:txBody>
      </p:sp>
    </p:spTree>
    <p:extLst>
      <p:ext uri="{BB962C8B-B14F-4D97-AF65-F5344CB8AC3E}">
        <p14:creationId xmlns:p14="http://schemas.microsoft.com/office/powerpoint/2010/main" val="20851197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F3259-12C5-4485-B67A-752E7D5D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A92C5-EA44-4D15-9D55-7BA31821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92FEC-6E31-4203-818E-25745397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743D4-DAAA-490E-8B74-8C1B7D7D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두 로봇팔은 컴퓨터를 통해 위치 정보를 주고받는다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2AAE8-1D1A-445E-B070-829F0B02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리더암과 팔로워암이 직접 연결되는 것이 아니라, LeRobot이 가운데에서 데이터를 전달한다.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08F73-AA8D-4B9B-B3AB-DA20D9C7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F4256-EF14-4A4A-B46A-7C93B323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70E89-3B55-430B-B4A2-1716F20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C26A4-71EF-41A2-946E-DD0BBEA5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14288">
            <a:solidFill>
              <a:srgbClr val="087F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45837-DD4D-421B-B7A6-39BDE83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7185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Leader</a:t>
            </a:r>
          </a:p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STS3215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4A4C9-4C01-42E1-A0AC-011F27E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766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E1C8A-8210-40F3-BDB0-14CFCA11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14288">
            <a:solidFill>
              <a:srgbClr val="087F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F525F-C4E0-4F5D-A930-D94C022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7185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CH343</a:t>
            </a:r>
          </a:p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COM 포트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26597-20EB-483C-8D4F-35A2B35A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766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0A22F-DE47-4FCE-8CB4-C1347355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14288">
            <a:solidFill>
              <a:srgbClr val="087F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1FC06-D347-4B8B-99DC-64FB2105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7185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LeRobot</a:t>
            </a:r>
          </a:p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31FB5-C32A-4AF9-867D-F42E96D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766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0A5E1-0686-4624-8184-96C21EE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14288">
            <a:solidFill>
              <a:srgbClr val="087F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86450-B098-4CE1-B456-A923E895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7185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CH343</a:t>
            </a:r>
          </a:p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COM 포트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0598F-9355-4016-8CE4-D7D5F46D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766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57791-22E4-4EFC-AB4E-CDF8DE96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14288">
            <a:solidFill>
              <a:srgbClr val="087F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532C7-5146-48E7-9E05-C5E1B783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37185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Follower</a:t>
            </a:r>
          </a:p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STS3215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CFE69-91EA-4A25-BDE2-28E9C8FF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19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사람의 손 → 현재 위치 읽기 → 각도로 변환 → 목표 위치 전송 → 모터 이동</a:t>
            </a:r>
          </a:p>
        </p:txBody>
      </p:sp>
    </p:spTree>
    <p:extLst>
      <p:ext uri="{BB962C8B-B14F-4D97-AF65-F5344CB8AC3E}">
        <p14:creationId xmlns:p14="http://schemas.microsoft.com/office/powerpoint/2010/main" val="1360473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F3680-B400-4C0F-BB92-708A004B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2B002-E8CA-44D7-B2E6-2E3BAF89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SOFTWARE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C5B5C-B89E-428E-ACA8-AA82662E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DDD22-28F3-466B-80F0-CEB0D0EC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여러 프로그램이 층층이 역할을 나누어 로봇팔을 제어한다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D589B-1AAE-4D22-BB29-0A3A9274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각 도구의 이름보다 어떤 역할을 맡는지 이해하는 것이 중요하다.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62C7B-4018-4555-AB8B-20F8EA06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A37EE-5E52-4E46-AE92-0A4AA0D6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0DD1E-82A7-4FC9-A43E-34ABC7B1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6843B-5B8F-41AF-A51E-EC6210E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1924C-CE34-4203-8BA3-BD53AD57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241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LeRobot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B97E7-D00B-4F99-8698-3E33154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모터 설정 · 캘리브레이션 · Teleoperation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7F821-90F8-4E2A-8B9F-9B66E1F2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11FC4-919A-4317-87CC-D99C3DD7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38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Python + pyserial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2E203-E7F8-4D19-8448-0EBC0B4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명령 실행 · Windows COM 통신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DDDC7-101B-4874-97FC-A0A70222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8D7DD-ADEB-4F84-A336-4D21ED3D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529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가상환경 .venv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8F099-7C61-4904-835A-B1123013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이 프로젝트만의 독립된 패키지 공간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EE69E-B5B2-48D5-85E0-88B18208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369F0-BA5A-42F2-B375-ABE889F0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67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Windows + CH343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D482A-1425-4DB4-9F89-69EC50E6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USB 장치를 COM 포트로 연결</a:t>
            </a:r>
          </a:p>
        </p:txBody>
      </p:sp>
    </p:spTree>
    <p:extLst>
      <p:ext uri="{BB962C8B-B14F-4D97-AF65-F5344CB8AC3E}">
        <p14:creationId xmlns:p14="http://schemas.microsoft.com/office/powerpoint/2010/main" val="962446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5E07E-2FA7-48ED-BC15-4F51884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C4859-3768-4367-BCB9-F1839C3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ENVIRONMENT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A7D8E-6568-453B-97A1-287C2053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47977-7C74-4400-A419-60510EC6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가상환경을 만들고 SO-101 통신 패키지를 설치한다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6E7D6-E353-4CDF-B832-DE0FAB7F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PowerShell 명령을 순서대로 실행하면 프로젝트 전용 실행 환경이 준비된다.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F69F2-1F00-4AC5-A57C-D48DF36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EA8A6-B182-4AA2-BB1B-8BAE17FE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0C875-5D86-4DD7-A322-C2A9863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2B6F4-7492-476E-B6BF-F72075F1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028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DB0F1-948A-4897-98E0-BCBCFCFE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F389F-2457-4486-B5FC-CC4A5721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988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  <a:p xmlns:a="http://schemas.openxmlformats.org/drawingml/2006/main">
            <a:pPr algn="l">
              <a:defRPr sz="127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.\.venv\Scripts\python.exe -m pip install --upgrade pip</a:t>
            </a:r>
          </a:p>
          <a:p xmlns:a="http://schemas.openxmlformats.org/drawingml/2006/main">
            <a:pPr algn="l">
              <a:defRPr sz="127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.\.venv\Scripts\pip.exe install "lerobot[feetech]" opencv-python pyserial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A9D30-DB72-4F24-AFB0-F1F8FBF2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0">
            <a:solidFill>
              <a:srgbClr val="DFF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267DC-BA01-4799-9916-86E83F39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67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venv = 독립된 작업실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D2958-BF13-46B0-BDFD-A6C8F526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816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0">
            <a:solidFill>
              <a:srgbClr val="DFF2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5FE39-623B-4648-A578-7A13B04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67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feetech = 모터 통신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F5442-78E9-4818-BEE7-19F576EF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0">
            <a:solidFill>
              <a:srgbClr val="DFF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2904C-92B7-4829-9CB3-CF8867D2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67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pyserial = COM 통신</a:t>
            </a:r>
          </a:p>
        </p:txBody>
      </p:sp>
    </p:spTree>
    <p:extLst>
      <p:ext uri="{BB962C8B-B14F-4D97-AF65-F5344CB8AC3E}">
        <p14:creationId xmlns:p14="http://schemas.microsoft.com/office/powerpoint/2010/main" val="2569381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78A9C-7C8A-4FF2-912B-85AAAB56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74CFC-CE73-4B8A-9324-1626110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USB SERIAL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78007-619E-49CE-8E4B-1D41696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6AC2D-CF1A-4905-8090-42FBA220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COM 포트는 컴퓨터가 로봇팔을 찾는 연결 주소다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7048-AC4F-42BD-ACB4-1B31C9D7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CH343 칩은 USB 데이터를 모터가 사용하는 직렬 통신으로 변환한다.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8D472-23E9-48D0-9AFA-F5924A43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6E3AE-0ECD-42C8-B79F-3468A73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36C93-5BE8-413C-9066-5CFD465D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2ABF5-455C-4499-8B4E-8BE91A67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BFB90-FA97-48BD-A50B-3F6A2A41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BDB86-A2B8-46B2-BA9A-2B47C23A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860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USB-Enhanced-SERIAL CH343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C6216-25B9-483E-AA05-CCBCF120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38500"/>
            <a:ext cx="2838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USB-직렬 변환 장치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VID:PID = 1A86:55D3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006E8-D07C-4EA9-BD52-41A4B21B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6A88-4732-49D2-8209-F160D1C5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35C53-9AAF-4C5B-9F72-E8EA08E2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COM10 / COM11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62D6B-6A7C-4E67-BB4F-78740D33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838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Windows가 장치에 붙이는 주소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USB 위치에 따라 변경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5199E-62EA-4477-95B9-57DCF3A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1462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D8A3C-A4D3-4131-9279-A3F1013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14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5142"/>
          </a:solidFill>
          <a:ln xmlns:a="http://schemas.openxmlformats.org/drawingml/2006/main" w="0">
            <a:solidFill>
              <a:srgbClr val="CE51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4130C-541F-4FD4-BD4C-94819503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860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Bluetooth COM은 제외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7FE35-ADE5-408D-A561-1F2BE572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38500"/>
            <a:ext cx="2838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포트 목록에 보여도 SO-101 장치가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CH343 설명을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CDDC2-9980-47CF-B0B6-B3305425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704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C07C2-21FC-4CD3-8935-8AC52077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B68A5-F1FA-491D-A737-E7231DE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05425"/>
            <a:ext cx="664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.\.venv\Scripts\python.exe -m serial.tools.list_ports -v</a:t>
            </a:r>
          </a:p>
        </p:txBody>
      </p:sp>
    </p:spTree>
    <p:extLst>
      <p:ext uri="{BB962C8B-B14F-4D97-AF65-F5344CB8AC3E}">
        <p14:creationId xmlns:p14="http://schemas.microsoft.com/office/powerpoint/2010/main" val="2440292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46E5C6-0D0D-4199-9BE0-A0980D1D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4833A-361C-4F15-BDA0-25E52BE9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MOTOR 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4879E-E276-459D-BDA7-49F853E9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DB03C-6D1A-4006-8679-FFC7DA64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여섯 모터는 같은 통신선을 공유하는 직렬 버스로 연결된다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2FEF3-B1D1-4E76-9A60-1C06B892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같은 선을 사용하므로 각 모터는 고유한 ID로 구분되어야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AD600-7990-4D40-99BA-72099CDD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97CCE-95A3-47B8-B59A-0F14CE5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C1A58-FD95-4C8D-8650-78A88192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FC80C-6ECE-41C9-B46B-70191C91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Feetech STS3215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7DFEC-09CC-46A7-A935-E2F71C89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통신 속도</a:t>
            </a:r>
          </a:p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1,000,000 baud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E9384-AAC0-4D6E-85EE-6FA49512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C37E7-C9F7-435F-8733-A4E39E7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96ED8-1D03-4599-BC40-B67D557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Motor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74425-A3F7-4195-8066-EF011E3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861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51C53-6CC7-4F16-99D1-D8E9A01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E3A35-E0C2-499D-A93C-AC50E76B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EE651-6A69-460E-AE57-DF68007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Motor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FF1F8-DFB8-4862-9B19-2E1B04E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861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4E8F7-1E5B-4884-9D52-65C722E8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5DE45-6044-4372-86D7-5892BBB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80F74-3BD6-4F49-BE52-7F4B7859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Motor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71BBE-BD38-48A7-BAA1-17929A1D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861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9DBA6-146E-490E-B0D4-53E0AEC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764A1-369C-43BD-86C0-0251E511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DDF53-D92C-409E-8248-81C409F6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Motor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6143E-23E4-4A3E-8E47-DDADA50C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861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32BA7-408C-41A9-95B6-BFCECA2A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0DB26-E2F2-436B-BE69-22D91B6B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7EE80-FFC9-43B9-A2CF-9B396F5A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Motor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A7C20-C341-41D1-A529-A0ED28F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1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107B5-8F60-470C-8F31-32DA21ED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900210-60F6-4B00-958C-DCAF97BD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87C42E-F0F4-4DFE-84CA-B6E4706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Motor 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2CBEE-4336-4E8A-BC2F-BB65345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0">
            <a:solidFill>
              <a:srgbClr val="FFF2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4DBE7-F0ED-457A-B75A-8F2C604D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baudrate는 1초에 전송하는 비트 수이며, 모든 모터가 같은 통신 속도를 사용해야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0497281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26F580-CEF5-477A-9797-EA60685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6BC34-A990-41B7-A373-C3EFD81C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MOTOR ID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B9B86-A531-4AB2-BBE9-B4A75742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92CB1-3DF1-4D2B-AE9D-FC9CC097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모터 ID는 각 관절에 붙이는 디지털 이름표다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7CB3C-54A4-4108-A403-A91A95DA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Leader와 Follower는 서로 다른 COM 포트이므로 양쪽 모두 ID 1~6을 사용할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E2BB-7607-41CB-99B2-63B26D2A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EEEB5-7E93-41CC-B0BA-C251E43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37320-AA9C-48BF-AC90-8A3196F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179FC-CAFB-424C-9D0B-43E4B29F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56AB8-01C4-476F-B075-0A3F8F33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E28C2-B29C-456D-84A5-659F5AE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C2EB0-2BA5-4562-84FA-3A4E2F8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DB5E2-8BD1-4B70-B4F2-564FFD2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52875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shoulder_pan</a:t>
            </a:r>
          </a:p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베이스 좌우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83163-A3A2-40F2-BD20-33C594F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05125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59B8B-6484-476C-9C2A-B8269D3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710CA-C525-4052-9050-0987CD3D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13B30-3197-49F2-BDB6-494395D8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2C0A6-92AE-406C-B9B9-E705084E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52875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shoulder_lift</a:t>
            </a:r>
          </a:p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어깨 위아래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3B344-A766-434C-BA8A-9B411D01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05125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7DE54-3488-4CA9-B4E3-27E4116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E4C92-CC2D-4BB8-A802-706DD27F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F316B-78D9-4A8C-A276-003F4AC8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AC893-2F46-447C-9288-A2E62CC3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52875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elbow_flex</a:t>
            </a:r>
          </a:p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팔꿈치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A95CE-6B1D-4E48-BF5A-305E977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05125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E4A7C-31AE-480C-9CAC-4D417F75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244C2-B399-4557-AE97-B0CFF3A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FD6FB-7A2C-4126-AB2F-1C8253BA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34DE3-8079-4F83-93D1-8F6BDE0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wrist_flex</a:t>
            </a:r>
          </a:p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손목 굽힘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9BF40-0966-4EF9-B474-C07B5CC7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05125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B0A69-7D37-41F6-B5C9-E6AF383E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10013-C673-443D-B276-861C1DF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DFF975-24A6-47BF-AF15-E275552D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02443-6706-4758-B477-76811CC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52875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wrist_roll</a:t>
            </a:r>
          </a:p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손목 회전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40AD6-4236-45E1-AACB-A310E8E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2BFE3F-8DCD-43A1-9FE0-67B1B15F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39254-AD2A-4781-8F9A-9CCFEA9B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194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CB9E09-6F30-4B65-A81F-1E7F7E1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957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40745C-7169-4F1B-A514-1B033D73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952875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gripper</a:t>
            </a:r>
          </a:p>
          <a:p xmlns:a="http://schemas.openxmlformats.org/drawingml/2006/main">
            <a:pPr algn="ctr">
              <a:def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집게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77B0D8-BE25-4D26-8933-237AAF5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90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E514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E5142"/>
                </a:solidFill>
                <a:latin typeface="Malgun Gothic"/>
                <a:ea typeface="Malgun Gothic"/>
                <a:cs typeface="Malgun Gothic"/>
              </a:rPr>
              <a:t>잘못된 ID → 다른 관절이 움직이거나, 두 모터가 동시에 응답하거나, 모터가 보이지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17526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CB5071-558A-425C-80F1-8AFC4B7A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988D6-E4AC-418B-BF8C-1AFC4666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ID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2F1F9-B3CD-40E6-884B-0201F57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A7815-3EE1-44BC-92E9-38DA00A0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ID를 바꿀 때는 반드시 모터 한 개만 연결한다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FB572-1A10-4750-9F66-E4E523DC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같은 기본 ID의 모터가 여러 개 연결되면 같은 명령에 동시에 응답하여 충돌할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0B279-3BAE-4172-B2EA-BAC4A5E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55F33-96FA-4DFB-A72E-FE40F7AD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CB24A-A48B-4327-9B07-D3979D10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667EF-AF1C-41CE-A5AC-31CE7493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8"/>
          </a:solidFill>
          <a:ln xmlns:a="http://schemas.openxmlformats.org/drawingml/2006/main" w="0">
            <a:solidFill>
              <a:srgbClr val="FCEB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D2DAE-AD1F-4364-A0F4-3CCD93F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9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E514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E5142"/>
                </a:solidFill>
                <a:latin typeface="Malgun Gothic"/>
                <a:ea typeface="Malgun Gothic"/>
                <a:cs typeface="Malgun Gothic"/>
              </a:rPr>
              <a:t>주의: 안내된 모터 1개 연결 → Enter → 분리 → 다음 모터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ED412-EE50-4F6C-8514-2F13EDE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LEADER 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7015E-1AC1-4C20-B174-010488C9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7FF3C-14BB-45FB-A074-E6334FDE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0507B-7558-46FE-85D2-B24C65E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67175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.\.venv\Scripts\lerobot-setup-motors.exe --teleop.type=so101_leader --teleop.port=COM10 --teleop.id=my_so101_leader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7695C-A0FF-42AC-80F7-BFD7ADC2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FOLLOWER ARM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F1BE-64DB-4643-A78B-DFF5B01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0B4A1-7C2E-4986-84F2-0F092BCA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F7E8F-C2D0-4767-9BB5-EB941523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05425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.\.venv\Scripts\lerobot-setup-motors.exe --robot.type=so101_follower --robot.port=COM11 --robot.id=my_so101_follower</a:t>
            </a:r>
          </a:p>
        </p:txBody>
      </p:sp>
    </p:spTree>
    <p:extLst>
      <p:ext uri="{BB962C8B-B14F-4D97-AF65-F5344CB8AC3E}">
        <p14:creationId xmlns:p14="http://schemas.microsoft.com/office/powerpoint/2010/main" val="4170645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59344-6FFE-44C4-A94D-F7395C29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A65F6-684A-48D6-ACFB-20DB0C0C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CALIBRATION 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51B00-4702-4EC6-896F-7A649668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2F716-D058-4ABE-9F83-D9889F1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캘리브레이션은 모터 숫자를 실제 관절 움직임으로 해석하는 과정이다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8045B-1F78-42AD-836A-52B58200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STS3215의 원시 위치값과 로봇팔의 기준 위치·안전 범위를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4789A-6959-470B-A55F-706F372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D46A9-1F99-4E7C-8F28-4A3249A7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5B7B5-5569-4567-A160-7BD5A52E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EE0D-1021-4F87-854D-483CF52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STS3215 Raw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0E362-2B7D-4361-8F32-E1843677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952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1B9EE-D5C5-4DB1-A7C5-DAEA31B4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FC54D-B5DB-4F4B-B640-6998FA77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B6603-4F5C-4774-B580-A5321DE4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52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C1214-D422-467A-AD09-549452B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522"/>
                </a:solidFill>
                <a:latin typeface="Aptos"/>
                <a:ea typeface="Aptos"/>
                <a:cs typeface="Aptos"/>
              </a:rPr>
              <a:t>2048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98A4B-6AAC-42A7-9505-3278656D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147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5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522"/>
                </a:solidFill>
                <a:latin typeface="Aptos"/>
                <a:ea typeface="Aptos"/>
                <a:cs typeface="Aptos"/>
              </a:rPr>
              <a:t>4095 →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BDA53-530F-4CB5-8213-BF4F8BCD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68784-E6F8-4E1B-B5C3-644A8DC0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EF955-1F17-4185-A702-60101593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Homing offset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DB914-D5FE-4205-8CBA-985DB637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2552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중간 자세를 기준 위치로 맞추는 보정값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9AFCB-9279-4D6B-8A2C-848E2640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C5382-0DFD-433D-BF4C-CACE2A2D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70B32-E9C1-4F0C-BABC-CD61D29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00575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Range min / 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3BADD-34ED-4AD3-ACEE-C67EECF9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53000"/>
            <a:ext cx="2552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관절이 사용할 최소·최대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59B4B-29FA-4689-8B2D-5B472825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29125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CA64F-68EA-4EC7-816B-B6E988C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291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5142"/>
          </a:solidFill>
          <a:ln xmlns:a="http://schemas.openxmlformats.org/drawingml/2006/main" w="0">
            <a:solidFill>
              <a:srgbClr val="CE51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1E9C6-3351-40B5-861A-5912814E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00575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Drive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570DF-6252-4882-A4C8-59DAEA34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53000"/>
            <a:ext cx="2552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모터의 회전 방향을 맞추는 설정</a:t>
            </a:r>
          </a:p>
        </p:txBody>
      </p:sp>
    </p:spTree>
    <p:extLst>
      <p:ext uri="{BB962C8B-B14F-4D97-AF65-F5344CB8AC3E}">
        <p14:creationId xmlns:p14="http://schemas.microsoft.com/office/powerpoint/2010/main" val="12427846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B6281-C508-42F9-AC00-0EC0BA4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D6D20-2F35-4DCE-9770-C4F5034B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CALIBRATION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FB1E-7FF8-4C9D-85BA-42C387D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5C939-17D9-48A1-9303-4BD8BE94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중간 자세에서 시작해 각 관절의 실제 사용 범위를 기록한다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F01B6-608E-4AA4-AC7C-F0967FAE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베이스 정면, 어깨 중간, 팔꿈치 약 90도, 손목 중간, 집게 반쯤 열린 자세가 좋다.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97476-CF69-4545-8D8F-7771E761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1B2C9-E86F-4006-951B-937FA3A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93662-307E-47B2-8AC9-50610716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D7F5F-25C5-4D39-A9E2-79B1F696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0">
            <a:solidFill>
              <a:srgbClr val="DFF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5156F-840E-46D5-AA59-B0CAFF86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베이스 정면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A4B0D-FB34-4C68-8A89-FD74B19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8127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C5C4D-59F7-4B3D-ABF5-275F8399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0">
            <a:solidFill>
              <a:srgbClr val="FFF2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CF8FF-ACEC-4AD9-8A8F-3E77FF1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574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어깨 중간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06636-C292-499E-B81F-5D009FB3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8127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46864-C9F8-4AD2-BD08-91A6035D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0">
            <a:solidFill>
              <a:srgbClr val="DFF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19DFA-82B6-4344-810F-BE4361D7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574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팔꿈치 90°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E64F2-3A17-46AC-9818-B101C3CF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8127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278D7-8108-4D83-91FD-7414EE7D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0">
            <a:solidFill>
              <a:srgbClr val="FFF2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50C1A-1C65-4E3E-BB41-E1851142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574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집게 반쯤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306AD-510E-4F1D-BEC5-1A39368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FOLLOWER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B7D36-3ACB-4B8A-A410-34336D8C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C3C7A-FACE-420C-B646-F90745BF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41AB5-6109-44F5-8770-DAA35873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10267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.\.venv\Scripts\lerobot-calibrate.exe --robot.type=so101_follower --robot.port=COM11 --robot.id=my_so101_follower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8D0D1-3985-4607-9CE6-19374C5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LEADER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304EF-38C9-47C7-ACF5-033D99E5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8CC3A-5E09-4ACF-A7D6-2DB3D519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C0052-0577-4392-BFEE-BB09B88B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9675"/>
            <a:ext cx="10267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.\.venv\Scripts\lerobot-calibrate.exe --teleop.type=so101_leader --teleop.port=COM10 --teleop.id=my_so101_leader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D0ED8-6FC5-4B82-9311-CF937E54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wrist_roll(ID 5)은 전체 회전 관절이라 일반 범위 기록표에서 제외될 수 있다.</a:t>
            </a:r>
          </a:p>
        </p:txBody>
      </p:sp>
    </p:spTree>
    <p:extLst>
      <p:ext uri="{BB962C8B-B14F-4D97-AF65-F5344CB8AC3E}">
        <p14:creationId xmlns:p14="http://schemas.microsoft.com/office/powerpoint/2010/main" val="6745466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19BE76-40EA-4C3A-87B1-160249C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8215F-4C33-40F7-BE32-470F399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90EF2-4258-4725-8D74-518B69A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CA0CD-AB1C-40D5-8A1F-8842841A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Teleoperation은 읽기와 전송을 초당 여러 번 반복하는 제어 루프다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6FF07-C216-41C2-87E1-C62A8C47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Leader의 현재 위치가 Follower의 목표 위치로 바뀌어 전달된다.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4A98F-EDE8-4AEB-B1E1-E781C9D8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8AECB-CA34-4955-86E4-80ACA828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4BC8F-F489-45CD-8292-34D863B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A2ADB-0795-46DA-916F-7872E34C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DCE47-88DC-42B7-BC7C-DDA07C6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F4441-667A-4E36-A2F3-50A95579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56E07-7B92-4191-816A-4463F839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03B4B-F4EB-41FC-A3A4-04FF59A8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Present_Position</a:t>
            </a:r>
          </a:p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읽기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A616D-1B6A-429F-8714-05EFC1B6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242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DE8A5-A870-44D5-8C4B-E804F68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BD0B7-D639-46DF-89F7-D029B5B4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95CC7-7B2F-4F23-99DF-5D1F0E39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6DF55-B41B-4EC3-A99D-50BFA0A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A4411-A60C-40CF-A134-F0A77894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Calibration</a:t>
            </a:r>
          </a:p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각도 변환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BA80F-4505-4A80-9F15-5B436A6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242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3B1B3-D8F8-410D-A297-5044B6E2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71A15-F666-4A3B-9A0E-CB5081B9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EF35F-AE2C-4627-B7CE-F3B08836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E894F-DC7F-4EC0-A1B4-EC8ABA05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BF651-F1E0-4210-AAFC-ADD96F4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Goal_Position</a:t>
            </a:r>
          </a:p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17549-D8DB-42CD-B870-BE205282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0DDB1-E51A-4B09-BD95-7B9E6C4E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C42932-0A10-45C4-BC7F-9798868F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3291C-A682-446F-9734-EC40E7FD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14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8C653-2471-4923-ACFA-AD9CDAC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9095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4F690-CB55-432C-BF33-4D98D4A6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Follower</a:t>
            </a:r>
          </a:p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이동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AEC94-9A88-42EB-8759-3ADEA408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930FD7-6EC0-4A64-8FFB-54107582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244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fps = 15  →  약 1초에 15번 위치를 읽고 전달</a:t>
            </a:r>
          </a:p>
        </p:txBody>
      </p:sp>
    </p:spTree>
    <p:extLst>
      <p:ext uri="{BB962C8B-B14F-4D97-AF65-F5344CB8AC3E}">
        <p14:creationId xmlns:p14="http://schemas.microsoft.com/office/powerpoint/2010/main" val="1391318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FF5F6-82BD-435B-BE08-8F4D15CF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6E123-DBB8-4EC3-9F10-FDAA0AF1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SAFE TELEOP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9652A-B392-453B-A166-3B2083D1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BC108-19A2-4F64-B908-D183DD02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처음에는 이동량·속도·시간을 제한해 위험을 줄인다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25767-C2BE-4404-BDC9-46EB580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안전 테스트가 정상일 때만 일반 Teleoperation으로 넘어간다.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AFE96-AEA0-4099-98D7-4F711257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5A55C-5A8D-47CC-925C-90383D1D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362A3-08A3-4A48-BE97-ABD776F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941CE-155A-467F-9365-8588188B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85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AE742-528F-4725-B2B5-644FE682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15567-884A-4449-8F8D-0BD78D5F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10458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.\.venv\Scripts\lerobot-teleoperate.exe --robot.type=so101_follower --robot.port=COM11 --robot.id=my_so101_follower --robot.max_relative_target=3 --teleop.type=so101_leader --teleop.port=COM10 --teleop.id=my_so101_leader --fps=15 --teleop_time_s=10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6F711-E9C1-4342-9AA0-6E2FCAC2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7A8CB-0B91-4357-A9BC-FEC974A6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0A3A2-D622-4218-835B-F85EF745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max_relative_target=3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27582-E224-402F-A642-5418205C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076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한 번에 큰 위치 변화가 전달되지 않도록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0ABBE-B279-4773-B510-B50807F3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33875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9B2D2-353D-49C1-A10D-30C968D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33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3C342-C9AE-4267-A644-E7C9D34B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053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fps=15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8C679-17FA-491C-9F9D-4CBEAAE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2076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1초에 실행하는 제어 루프의 횟수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EF036-C505-4157-9917-F888513E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04219-EC00-43D5-949F-4166A5E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B935F-DAA1-448A-914D-3EB00AC5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053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teleop_time_s=10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39842-8FDC-4177-8F09-30A9C67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2076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10초 뒤 자동으로 프로그램 종료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7D4D4-965F-47F9-9BDD-CD582A5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14578-8690-4CD2-9DD3-760CECAE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5142"/>
          </a:solidFill>
          <a:ln xmlns:a="http://schemas.openxmlformats.org/drawingml/2006/main" w="0">
            <a:solidFill>
              <a:srgbClr val="CE51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07940-998A-49F7-81D8-EFFD4F0F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5053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전원 스위치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501BA-8687-417A-B380-D231519B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857750"/>
            <a:ext cx="2076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통신이 끊기면 소프트웨어가 토크를 못 풀 수 있음</a:t>
            </a:r>
          </a:p>
        </p:txBody>
      </p:sp>
    </p:spTree>
    <p:extLst>
      <p:ext uri="{BB962C8B-B14F-4D97-AF65-F5344CB8AC3E}">
        <p14:creationId xmlns:p14="http://schemas.microsoft.com/office/powerpoint/2010/main" val="17069561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1CA180-5DC1-4DCF-A6C7-E57E911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AF76B-2D76-46CB-B638-D8441FD2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ERROR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EC3F3-6D99-493E-9041-81563A7E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BF3D1-FEDB-4F39-8606-0689CBB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오류 메시지는 고장 위치를 알려주는 진단 정보다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0EFA3-DB63-4175-88BE-02BFE73B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메시지의 핵심 단어를 보고 포트·ID·전원·기구 문제를 나누어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2A244-095D-42BE-BF8D-D0630AD8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0F466-1EE8-461F-A5B3-CD7DB2C3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8C891-97B3-4B72-B953-B7D2E75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81369-8F91-4788-92B8-58001883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오류 메시지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9DF37-852F-4EC2-A846-83864726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667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먼저 확인할 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24E6B-24A3-4138-8CF2-D29FB3B5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66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4763">
            <a:solidFill>
              <a:srgbClr val="D8E1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88555-4B1D-4B10-B2E5-08EAD8DF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52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32522"/>
                </a:solidFill>
                <a:latin typeface="Consolas"/>
                <a:ea typeface="Consolas"/>
                <a:cs typeface="Consolas"/>
              </a:rPr>
              <a:t>Missing motor 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F6724-2D0D-482B-AC4A-2E27177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ID · 케이블 · 전원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22D26-99C5-4A0A-9758-B7E1E65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066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1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9CB6F-136B-4C0C-AF01-2572820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52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32522"/>
                </a:solidFill>
                <a:latin typeface="Consolas"/>
                <a:ea typeface="Consolas"/>
                <a:cs typeface="Consolas"/>
              </a:rPr>
              <a:t>Could not connect on 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DB77F-3753-4FE5-AD34-531D0A64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194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COM 번호 · 다른 프로그램 점유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DFB09-E5E7-4921-BA4C-BE6B3549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4763">
            <a:solidFill>
              <a:srgbClr val="D8E1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8815C-BCBD-4E9F-8E94-700BA27E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52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32522"/>
                </a:solidFill>
                <a:latin typeface="Consolas"/>
                <a:ea typeface="Consolas"/>
                <a:cs typeface="Consolas"/>
              </a:rPr>
              <a:t>Incorrect status packet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E1AF6-73BC-4EED-8D4E-C48906A4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중복 ID · 접촉 불량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4DB04-3368-437E-8067-BEBD8570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66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1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5A5C2-0A7B-42B4-875C-866C5E4F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52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32522"/>
                </a:solidFill>
                <a:latin typeface="Consolas"/>
                <a:ea typeface="Consolas"/>
                <a:cs typeface="Consolas"/>
              </a:rPr>
              <a:t>There is no status packet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AF557-9945-4734-9CD0-1ADD0A2F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전원 · baudrate · 통신선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01B85-0654-472E-843D-99B8A09C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66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4763">
            <a:solidFill>
              <a:srgbClr val="D8E1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3EC0A-66B3-4256-8014-DA99076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E514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CE5142"/>
                </a:solidFill>
                <a:latin typeface="Consolas"/>
                <a:ea typeface="Consolas"/>
                <a:cs typeface="Consolas"/>
              </a:rPr>
              <a:t>Overload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10861-FC76-4272-A2C3-1852B27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기구 간섭 · 과도한 토크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5E184-6064-4F4B-9FF4-CD98EA99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66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1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B8D1B-39E2-4D42-9C38-FDA232E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625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52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32522"/>
                </a:solidFill>
                <a:latin typeface="Consolas"/>
                <a:ea typeface="Consolas"/>
                <a:cs typeface="Consolas"/>
              </a:rPr>
              <a:t>ClearCommError / Access denied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BF6A99-7363-4A37-B004-E7E261B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625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USB 끊김 · 허브 · 절전 설정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43173B-AD27-42CB-ADE5-3C0403C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055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8"/>
          </a:solidFill>
          <a:ln xmlns:a="http://schemas.openxmlformats.org/drawingml/2006/main" w="0">
            <a:solidFill>
              <a:srgbClr val="FCEB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A0FD97-7704-4FA5-819E-E95B99D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817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E514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E5142"/>
                </a:solidFill>
                <a:latin typeface="Malgun Gothic"/>
                <a:ea typeface="Malgun Gothic"/>
                <a:cs typeface="Malgun Gothic"/>
              </a:rPr>
              <a:t>이상한 움직임·소음·통신 끊김이 생기면 먼저 손을 떼고 전원을 끈다.</a:t>
            </a:r>
          </a:p>
        </p:txBody>
      </p:sp>
    </p:spTree>
    <p:extLst>
      <p:ext uri="{BB962C8B-B14F-4D97-AF65-F5344CB8AC3E}">
        <p14:creationId xmlns:p14="http://schemas.microsoft.com/office/powerpoint/2010/main" val="18205742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AA97DC-2F03-4B46-B84D-ADE93BA3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1FDD6-0052-465D-8522-FB3460BD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FULL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C4E61-178A-43F2-A7C3-BBCFF66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FAF38-F1F0-45D4-9364-8C74110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설치부터 조종까지는 여덟 번의 확인 과정으로 완성된다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369EA-0D8C-463C-A13A-AD11FB9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각 단계가 정상일 때만 다음 단계로 넘어가면 문제 원인을 빠르게 찾을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B409B-A537-437F-9737-DAC6B5B8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63430-D616-4EF7-8E1C-28C82DC7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28935-67FE-404A-AA2F-1F873048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67F39-EB0C-44ED-B9FF-2F85A5F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AA570-0C0F-438F-80C9-E794EBF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908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53854-A00B-46D9-912E-05DA640E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6707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7E0EC-537F-49D9-BF19-D6DF46AD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Python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DDB54-DDDB-4091-8104-9013DDA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622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3C342-7788-4895-92AF-5756363C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708C8-82F2-4DDA-9F39-BCC8DC7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908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C33E3-9906-4AB3-B499-D7A039EB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6707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0AE4A-425E-468E-9A86-F451D66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98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LeRobot 설치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84DE-1C5D-4708-9E32-851DD488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622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3B64D-7488-41E8-BC12-8DA85929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9A168-7334-43AF-A228-50A86C25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6C0B9-3B63-4CEF-94A5-E02EA11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6707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235AA-938A-4F9E-A6E5-672AEA0C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COM 포트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41704-6813-4321-A659-5FF494BB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22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E4EF5-3EC4-49B9-A48B-A8E2579C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1AAAF-AB2B-4F0B-8BB4-68C6A2AF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908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BFE39-52B4-44E8-9D1F-A3384B9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6707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1F8BDA-75B1-4702-8C53-C9F02FD2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098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모터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FD7FB-3277-4502-B1C1-394DCF8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27ABCE-A9AE-4DC8-ABD5-448EA0A0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BA8D1-658C-4836-AF57-09BD7509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8632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C16D7F-55D3-4497-8912-C25401DB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통신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D75167-9165-4BB8-A5FC-B785D2A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8150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FB838-F8D6-4B00-AD8B-30196EE9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E966B-4CDC-4791-8683-738C014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100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20B3E-697B-4805-A13D-AFBFC7A8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8632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32BA5B-3080-4633-BE0C-CF55260F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291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BEA5C8-EB4F-4FA0-9790-577FBFB3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40945E-0085-4F48-9C72-BC0F3664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DDA13E-9ACD-469A-912A-4498B54C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00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88474E-76BA-496E-84B9-E445090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8632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6302B9-1345-4E37-94F7-4EDD04B7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291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안전 Teleop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53FD0E-141E-4025-89DB-63BE8AC9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8150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D0F6DB-2044-4194-B1F6-77A8A8BB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9BE717-8A0B-4900-8918-38D1133B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100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DC16B1-030E-42F7-AB4C-313154D9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86325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A7F8B9-CAF2-4684-BE37-8EE57298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291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일반 Teleop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0FFEDD-5C78-49C7-9ED6-A9CE8EDE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D"/>
          </a:solidFill>
          <a:ln xmlns:a="http://schemas.openxmlformats.org/drawingml/2006/main" w="0">
            <a:solidFill>
              <a:srgbClr val="DFF2E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8C78D0-2583-43C8-9479-C156E56D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816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성공 기준: 12개 모터 인식 · 방향 일치 · 과부하 없음 · USB 연결 안정</a:t>
            </a:r>
          </a:p>
        </p:txBody>
      </p:sp>
    </p:spTree>
    <p:extLst>
      <p:ext uri="{BB962C8B-B14F-4D97-AF65-F5344CB8AC3E}">
        <p14:creationId xmlns:p14="http://schemas.microsoft.com/office/powerpoint/2010/main" val="7915722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FFDE8-CF57-4CA9-AE3E-359D4147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360DB-A510-4310-A09B-007E7613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APPENDIX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0769D-2C89-4C5A-82A5-91AC7D82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E3291-F316-4936-B6A4-5C040DD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수업용 핵심 명령어 모음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659D7-B490-4364-AA97-631937FC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실제 COM 번호와 로봇 ID는 사용하는 컴퓨터와 장비에 맞게 바꾼다.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F6508-F8CE-40DC-A0BE-9C50E66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50928-0A96-4844-B2B9-AF5F9EA1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95071-E1D1-4115-817C-B82F5513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EABEE-A930-45AA-B27F-F2086FEA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포트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27498-B7C5-41B2-8272-90F64BE6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02E29-A70E-4CE0-99D3-86D59C9A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C48D6-318C-4663-83FB-B5D8F0BC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836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.\.venv\Scripts\python.exe -m serial.tools.list_ports -v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A2BE3-FD96-4273-AB59-C0AA93A7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Follower 캘리브레이션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9DD9C-875D-4D64-A970-18BAD632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6707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BD6B3-EB83-4123-AAAF-063075F9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6707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AEDBB-6807-49E0-85E1-9C105BBD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836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.\.venv\Scripts\lerobot-calibrate.exe --robot.type=so101_follower --robot.port=COM11 --robot.id=my_so101_follower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76A42-6BE3-4435-8A2D-D1780F42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Leader 캘리브레이션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674AB-31E2-491D-9704-637C33E8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0052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08F5B-9330-4DFD-A797-C610A44F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0052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50BFB-0B9A-450E-95FD-746F8AE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2450"/>
            <a:ext cx="836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.\.venv\Scripts\lerobot-calibrate.exe --teleop.type=so101_leader --teleop.port=COM10 --teleop.id=my_so101_leader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3CE76-9AF2-4F18-B1BE-8146E3F3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81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일반 Teleoperation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42FA6-59E0-4F42-9D89-A589DC77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3397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solidFill>
              <a:srgbClr val="1423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F937B-0D36-4DC4-8716-97A07C1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3397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C11F2-133F-470C-B337-7B2B2A7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95900"/>
            <a:ext cx="836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9F5F1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9F5F1"/>
                </a:solidFill>
                <a:latin typeface="Consolas"/>
                <a:ea typeface="Consolas"/>
                <a:cs typeface="Consolas"/>
              </a:rPr>
              <a:t>.\.venv\Scripts\lerobot-teleoperate.exe --robot.type=so101_follower --robot.port=COM11 --robot.id=my_so101_follower --teleop.type=so101_leader --teleop.port=COM10 --teleop.id=my_so101_leader</a:t>
            </a:r>
          </a:p>
        </p:txBody>
      </p:sp>
    </p:spTree>
    <p:extLst>
      <p:ext uri="{BB962C8B-B14F-4D97-AF65-F5344CB8AC3E}">
        <p14:creationId xmlns:p14="http://schemas.microsoft.com/office/powerpoint/2010/main" val="20304208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2D4D2-6370-45D3-9602-BF2BD103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0">
            <a:solidFill>
              <a:srgbClr val="F4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96AEA-5D6E-4A22-B63E-8B788F6B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F6C"/>
                </a:solidFill>
                <a:latin typeface="Malgun Gothic"/>
                <a:ea typeface="Malgun Gothic"/>
                <a:cs typeface="Malgun Gothic"/>
              </a:rPr>
              <a:t>APPENDIX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BB624-E898-49FB-861C-07313EA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4"/>
          </a:solidFill>
          <a:ln xmlns:a="http://schemas.openxmlformats.org/drawingml/2006/main" w="0">
            <a:solidFill>
              <a:srgbClr val="F2B9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2FE6A-4E06-495E-8772-653AB68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수업을 시작하기 전 이 체크리스트를 확인한다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BBF62-D234-40C2-B0C8-60E17BA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하드웨어와 소프트웨어 상태를 먼저 확인하면 수업 중 갑작스러운 중단을 줄일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A692A-20C8-4C12-A012-BB04448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A9529-AA7B-4997-A229-5BF883E5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SO-101 · LeRobot · Windows Teleoperation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BC683-4D9D-4430-937D-D151FACD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BD0F-11BA-4616-B3B1-3BC8A85A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509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4FC38-03D2-41AA-8950-545D37F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1905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D9AC9-F920-4B66-AFDC-FC7A21E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3842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전원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95B49-C346-4FF4-A0E7-4F40486C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241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Leader와 Follower 전원 및 비상 OFF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EBCD9-BB7A-4FF2-BAD0-62F639EE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509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D2228-3F89-475F-BA7F-594C7481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05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19050">
            <a:solidFill>
              <a:srgbClr val="087F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9288B-BAC7-44E1-984E-BBCAE45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3842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USB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C9E49-CC2F-4FA9-AC79-5F81AD4D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241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데이터 케이블 2개와 CH343 포트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7B68D-19EE-4178-BB3E-2B7B1ABE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509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F43A1-65BD-4637-A055-F82ABD8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00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19050">
            <a:solidFill>
              <a:srgbClr val="087F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6DBA9-45FD-48C6-AD97-F727DEC6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모터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1800D-75E5-443D-AA72-C6BD7ED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양쪽 팔에서 ID 1~6이 모두 응답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1C510-9565-4B20-AF41-EF48358C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71875"/>
            <a:ext cx="509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88391-F85C-4BCF-BC52-83264D03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00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19050">
            <a:solidFill>
              <a:srgbClr val="087F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5B31C-7111-4C9A-B4A3-6861E1F9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펌웨어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24C01-2BF4-4951-A977-2C68CB4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각 팔의 모터 펌웨어 버전 통일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6871A-5FD1-47B1-85AB-0D23A211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509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C6ACD-ECD6-4D39-8315-9AB66F18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19050">
            <a:solidFill>
              <a:srgbClr val="087F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89ABA-07ED-4703-99CD-8ED4687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2917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EC618-1AAE-4F3D-B963-B615A1D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1492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올바른 robot.id와 calibration JSON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A0893-F159-4579-80CC-C165C18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509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A41B68-1ED5-4311-90F5-62256943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95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19050">
            <a:solidFill>
              <a:srgbClr val="087F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67B061-34CC-41C2-B862-98255274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2917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작업 공간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3913C-B52F-435A-B4C2-43BACD80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1492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6C"/>
                </a:solidFill>
                <a:latin typeface="Malgun Gothic"/>
                <a:ea typeface="Malgun Gothic"/>
                <a:cs typeface="Malgun Gothic"/>
              </a:rPr>
              <a:t>관절 이동 범위 안의 사람과 물건 제거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9526E-6671-4C55-92DD-C928CC4B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1"/>
          </a:solidFill>
          <a:ln xmlns:a="http://schemas.openxmlformats.org/drawingml/2006/main" w="0">
            <a:solidFill>
              <a:srgbClr val="FFF2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16288D-C1BA-475A-B0F4-D53A2A8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055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522"/>
                </a:solidFill>
                <a:latin typeface="Malgun Gothic"/>
                <a:ea typeface="Malgun Gothic"/>
                <a:cs typeface="Malgun Gothic"/>
              </a:rPr>
              <a:t>가장 중요한 장비는 오류를 발견했을 때 즉시 멈추는 사람의 판단이다.</a:t>
            </a:r>
          </a:p>
        </p:txBody>
      </p:sp>
    </p:spTree>
    <p:extLst>
      <p:ext uri="{BB962C8B-B14F-4D97-AF65-F5344CB8AC3E}">
        <p14:creationId xmlns:p14="http://schemas.microsoft.com/office/powerpoint/2010/main" val="1478565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2026-07-10T01:48:04.5230000Z</dcterms:created>
  <dcterms:modified xsi:type="dcterms:W3CDTF">2026-07-10T01:48:04.5230000Z</dcterms:modified>
</coreProperties>
</file>